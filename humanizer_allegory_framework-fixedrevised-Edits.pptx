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humanizer.com" TargetMode="Externa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3810000" y="1429494"/>
            <a:ext cx="1524000" cy="50751"/>
          </a:xfrm>
          <a:prstGeom prst="rect">
            <a:avLst/>
          </a:prstGeom>
          <a:solidFill>
            <a:srgbClr val="16A08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685800" y="1861244"/>
            <a:ext cx="7772400" cy="678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500"/>
              </a:spcBef>
              <a:defRPr b="1" sz="48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Language as a Sense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685800" y="2756594"/>
            <a:ext cx="7772400" cy="338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2000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Re-seeing the Subjective / Objective Divide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685800" y="3429594"/>
            <a:ext cx="7772400" cy="26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spcBef>
                <a:spcPts val="2500"/>
              </a:spcBef>
              <a:defRPr sz="16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Emotional proof for Humanizer.com's foundational paradigm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 txBox="1"/>
          <p:nvPr/>
        </p:nvSpPr>
        <p:spPr>
          <a:xfrm>
            <a:off x="762000" y="634901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Illusion of the Objective</a:t>
            </a:r>
          </a:p>
        </p:txBody>
      </p:sp>
      <p:sp>
        <p:nvSpPr>
          <p:cNvPr id="26" name="Text 1"/>
          <p:cNvSpPr txBox="1"/>
          <p:nvPr/>
        </p:nvSpPr>
        <p:spPr>
          <a:xfrm>
            <a:off x="762000" y="1285725"/>
            <a:ext cx="7772400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3000"/>
              </a:spcBef>
              <a:defRPr i="1" sz="22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live in a linguistic hallucination</a:t>
            </a:r>
          </a:p>
        </p:txBody>
      </p:sp>
      <p:sp>
        <p:nvSpPr>
          <p:cNvPr id="27" name="Text 2"/>
          <p:cNvSpPr txBox="1"/>
          <p:nvPr/>
        </p:nvSpPr>
        <p:spPr>
          <a:xfrm>
            <a:off x="920750" y="1990575"/>
            <a:ext cx="7461250" cy="1394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500"/>
              </a:lnSpc>
              <a:spcBef>
                <a:spcPts val="1800"/>
              </a:spcBef>
              <a:buSzPct val="100000"/>
              <a:buChar char="•"/>
              <a:defRPr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Language offers the sense of a shared, "objective" world</a:t>
            </a:r>
          </a:p>
          <a:p>
            <a:pPr marL="158750" indent="-158750">
              <a:lnSpc>
                <a:spcPts val="2500"/>
              </a:lnSpc>
              <a:spcBef>
                <a:spcPts val="1800"/>
              </a:spcBef>
              <a:buSzPct val="100000"/>
              <a:buChar char="•"/>
              <a:defRPr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But meaning is formed in consciousness</a:t>
            </a:r>
          </a:p>
          <a:p>
            <a:pPr marL="158750" indent="-158750">
              <a:lnSpc>
                <a:spcPts val="2500"/>
              </a:lnSpc>
              <a:spcBef>
                <a:spcPts val="1800"/>
              </a:spcBef>
              <a:buSzPct val="100000"/>
              <a:buChar char="•"/>
              <a:defRPr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illusion is powerful, emotionally embedded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685800" y="571500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35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Three Realms of Existence</a:t>
            </a:r>
          </a:p>
        </p:txBody>
      </p:sp>
      <p:sp>
        <p:nvSpPr>
          <p:cNvPr id="30" name="Text 1"/>
          <p:cNvSpPr/>
          <p:nvPr/>
        </p:nvSpPr>
        <p:spPr>
          <a:xfrm>
            <a:off x="762000" y="1539775"/>
            <a:ext cx="2370684" cy="256565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" name="Shape 2"/>
          <p:cNvSpPr/>
          <p:nvPr/>
        </p:nvSpPr>
        <p:spPr>
          <a:xfrm flipH="1">
            <a:off x="800099" y="1539775"/>
            <a:ext cx="2" cy="2565649"/>
          </a:xfrm>
          <a:prstGeom prst="line">
            <a:avLst/>
          </a:prstGeom>
          <a:ln w="76200">
            <a:solidFill>
              <a:srgbClr val="16A0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3"/>
          <p:cNvSpPr txBox="1"/>
          <p:nvPr/>
        </p:nvSpPr>
        <p:spPr>
          <a:xfrm>
            <a:off x="1092100" y="1857225"/>
            <a:ext cx="1822415" cy="525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defRPr b="1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Corporeal / Physical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1092100" y="2543025"/>
            <a:ext cx="1822415" cy="954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That which can be sensed and measured. The unnamable substrate of reality.</a:t>
            </a:r>
          </a:p>
        </p:txBody>
      </p:sp>
      <p:sp>
        <p:nvSpPr>
          <p:cNvPr id="34" name="Text 5"/>
          <p:cNvSpPr/>
          <p:nvPr/>
        </p:nvSpPr>
        <p:spPr>
          <a:xfrm>
            <a:off x="3386583" y="1539775"/>
            <a:ext cx="2370684" cy="256565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" name="Shape 6"/>
          <p:cNvSpPr/>
          <p:nvPr/>
        </p:nvSpPr>
        <p:spPr>
          <a:xfrm flipH="1">
            <a:off x="3424683" y="1539775"/>
            <a:ext cx="1" cy="2565649"/>
          </a:xfrm>
          <a:prstGeom prst="line">
            <a:avLst/>
          </a:prstGeom>
          <a:ln w="76200">
            <a:solidFill>
              <a:srgbClr val="7C529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7"/>
          <p:cNvSpPr txBox="1"/>
          <p:nvPr/>
        </p:nvSpPr>
        <p:spPr>
          <a:xfrm>
            <a:off x="3716685" y="1857225"/>
            <a:ext cx="1822415" cy="525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defRPr b="1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Objective / Symbolic</a:t>
            </a:r>
          </a:p>
        </p:txBody>
      </p:sp>
      <p:sp>
        <p:nvSpPr>
          <p:cNvPr id="37" name="Text 8"/>
          <p:cNvSpPr txBox="1"/>
          <p:nvPr/>
        </p:nvSpPr>
        <p:spPr>
          <a:xfrm>
            <a:off x="3716685" y="2543025"/>
            <a:ext cx="1822415" cy="954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Shared abstractions: words, mathematics, institutions, and social codes.</a:t>
            </a:r>
          </a:p>
        </p:txBody>
      </p:sp>
      <p:sp>
        <p:nvSpPr>
          <p:cNvPr id="38" name="Text 9"/>
          <p:cNvSpPr/>
          <p:nvPr/>
        </p:nvSpPr>
        <p:spPr>
          <a:xfrm>
            <a:off x="6011167" y="1539775"/>
            <a:ext cx="2370684" cy="256565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9" name="Shape 10"/>
          <p:cNvSpPr/>
          <p:nvPr/>
        </p:nvSpPr>
        <p:spPr>
          <a:xfrm flipH="1">
            <a:off x="6049267" y="1539775"/>
            <a:ext cx="1" cy="2565649"/>
          </a:xfrm>
          <a:prstGeom prst="line">
            <a:avLst/>
          </a:prstGeom>
          <a:ln w="76200">
            <a:solidFill>
              <a:srgbClr val="2C1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1"/>
          <p:cNvSpPr txBox="1"/>
          <p:nvPr/>
        </p:nvSpPr>
        <p:spPr>
          <a:xfrm>
            <a:off x="6341269" y="1857225"/>
            <a:ext cx="1822415" cy="525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defRPr b="1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Subjective / Conscious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6341269" y="2543025"/>
            <a:ext cx="1822415" cy="713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lived experience of "now." Intention, will, and presence.</a:t>
            </a:r>
          </a:p>
        </p:txBody>
      </p:sp>
      <p:sp>
        <p:nvSpPr>
          <p:cNvPr id="42" name="Text 13"/>
          <p:cNvSpPr txBox="1"/>
          <p:nvPr/>
        </p:nvSpPr>
        <p:spPr>
          <a:xfrm>
            <a:off x="685800" y="4422873"/>
            <a:ext cx="7772400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500"/>
              </a:spcBef>
              <a:defRPr i="1" sz="1400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Only the third realm is truly "lived" — the others are supports or mediations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 txBox="1"/>
          <p:nvPr/>
        </p:nvSpPr>
        <p:spPr>
          <a:xfrm>
            <a:off x="762000" y="634901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Phenomenology</a:t>
            </a:r>
          </a:p>
        </p:txBody>
      </p:sp>
      <p:sp>
        <p:nvSpPr>
          <p:cNvPr id="45" name="Text 1"/>
          <p:cNvSpPr txBox="1"/>
          <p:nvPr/>
        </p:nvSpPr>
        <p:spPr>
          <a:xfrm>
            <a:off x="762000" y="1285725"/>
            <a:ext cx="7772400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500"/>
              </a:spcBef>
              <a:defRPr i="1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Field of the Lifeworld</a:t>
            </a:r>
          </a:p>
        </p:txBody>
      </p:sp>
      <p:sp>
        <p:nvSpPr>
          <p:cNvPr id="46" name="Shape 2"/>
          <p:cNvSpPr/>
          <p:nvPr/>
        </p:nvSpPr>
        <p:spPr>
          <a:xfrm flipH="1">
            <a:off x="785812" y="1869876"/>
            <a:ext cx="1" cy="295276"/>
          </a:xfrm>
          <a:prstGeom prst="line">
            <a:avLst/>
          </a:prstGeom>
          <a:ln w="47625">
            <a:solidFill>
              <a:srgbClr val="16A0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3"/>
          <p:cNvSpPr txBox="1"/>
          <p:nvPr/>
        </p:nvSpPr>
        <p:spPr>
          <a:xfrm>
            <a:off x="1063525" y="1869876"/>
            <a:ext cx="7464846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20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"Everything is given in lived experience."</a:t>
            </a:r>
          </a:p>
        </p:txBody>
      </p:sp>
      <p:sp>
        <p:nvSpPr>
          <p:cNvPr id="48" name="Text 4"/>
          <p:cNvSpPr txBox="1"/>
          <p:nvPr/>
        </p:nvSpPr>
        <p:spPr>
          <a:xfrm>
            <a:off x="920750" y="2546152"/>
            <a:ext cx="7461250" cy="124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Husserl's epoché &amp; reduction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"lifeworld" prior to abstraction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Consciousness first, then objects</a:t>
            </a:r>
          </a:p>
        </p:txBody>
      </p:sp>
      <p:sp>
        <p:nvSpPr>
          <p:cNvPr id="49" name="Text 5"/>
          <p:cNvSpPr txBox="1"/>
          <p:nvPr/>
        </p:nvSpPr>
        <p:spPr>
          <a:xfrm>
            <a:off x="762000" y="4151412"/>
            <a:ext cx="777240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500"/>
              </a:spcBef>
              <a:defRPr sz="1500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Language is an artifact built on top of the lifeworld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 txBox="1"/>
          <p:nvPr/>
        </p:nvSpPr>
        <p:spPr>
          <a:xfrm>
            <a:off x="762000" y="571500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Emptiness / Dependent Origination</a:t>
            </a:r>
          </a:p>
        </p:txBody>
      </p:sp>
      <p:sp>
        <p:nvSpPr>
          <p:cNvPr id="52" name="Text 1"/>
          <p:cNvSpPr txBox="1"/>
          <p:nvPr/>
        </p:nvSpPr>
        <p:spPr>
          <a:xfrm>
            <a:off x="762000" y="1746200"/>
            <a:ext cx="7772400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3000"/>
              </a:spcBef>
              <a:defRPr b="1" sz="24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śūnyatā (emptiness)</a:t>
            </a:r>
          </a:p>
        </p:txBody>
      </p:sp>
      <p:sp>
        <p:nvSpPr>
          <p:cNvPr id="53" name="Text 2"/>
          <p:cNvSpPr txBox="1"/>
          <p:nvPr/>
        </p:nvSpPr>
        <p:spPr>
          <a:xfrm>
            <a:off x="920750" y="2479625"/>
            <a:ext cx="7461250" cy="124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Nāgārjuna: no inherent existence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All phenomena arise dependently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Even "objects" are relational constructs</a:t>
            </a:r>
          </a:p>
        </p:txBody>
      </p:sp>
      <p:sp>
        <p:nvSpPr>
          <p:cNvPr id="54" name="Text 3"/>
          <p:cNvSpPr/>
          <p:nvPr/>
        </p:nvSpPr>
        <p:spPr>
          <a:xfrm>
            <a:off x="762000" y="4148435"/>
            <a:ext cx="7620000" cy="774503"/>
          </a:xfrm>
          <a:prstGeom prst="roundRect">
            <a:avLst>
              <a:gd name="adj" fmla="val 13118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5" name="Shape 4"/>
          <p:cNvSpPr/>
          <p:nvPr/>
        </p:nvSpPr>
        <p:spPr>
          <a:xfrm flipH="1">
            <a:off x="785812" y="4148435"/>
            <a:ext cx="1" cy="774503"/>
          </a:xfrm>
          <a:prstGeom prst="line">
            <a:avLst/>
          </a:prstGeom>
          <a:ln w="47625">
            <a:solidFill>
              <a:srgbClr val="7C529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5"/>
          <p:cNvSpPr txBox="1"/>
          <p:nvPr/>
        </p:nvSpPr>
        <p:spPr>
          <a:xfrm>
            <a:off x="1063526" y="4402335"/>
            <a:ext cx="7205865" cy="253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From emptiness to the non-ontological status of symbolic artifacts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 txBox="1"/>
          <p:nvPr/>
        </p:nvSpPr>
        <p:spPr>
          <a:xfrm>
            <a:off x="762000" y="634901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Deconstruction &amp; différance</a:t>
            </a:r>
          </a:p>
        </p:txBody>
      </p:sp>
      <p:sp>
        <p:nvSpPr>
          <p:cNvPr id="59" name="Text 1"/>
          <p:cNvSpPr txBox="1"/>
          <p:nvPr/>
        </p:nvSpPr>
        <p:spPr>
          <a:xfrm>
            <a:off x="762000" y="1285725"/>
            <a:ext cx="7772400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3000"/>
              </a:spcBef>
              <a:defRPr i="1" sz="24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Meaning is deferred</a:t>
            </a:r>
          </a:p>
        </p:txBody>
      </p:sp>
      <p:sp>
        <p:nvSpPr>
          <p:cNvPr id="60" name="Text 2"/>
          <p:cNvSpPr txBox="1"/>
          <p:nvPr/>
        </p:nvSpPr>
        <p:spPr>
          <a:xfrm>
            <a:off x="920750" y="2019151"/>
            <a:ext cx="7461250" cy="124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Derrida: language never "present"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Signifiers reference other signifiers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trace of absence always present</a:t>
            </a:r>
          </a:p>
        </p:txBody>
      </p:sp>
      <p:sp>
        <p:nvSpPr>
          <p:cNvPr id="61" name="Text 3"/>
          <p:cNvSpPr/>
          <p:nvPr/>
        </p:nvSpPr>
        <p:spPr>
          <a:xfrm>
            <a:off x="762000" y="3687960"/>
            <a:ext cx="7620000" cy="774503"/>
          </a:xfrm>
          <a:prstGeom prst="roundRect">
            <a:avLst>
              <a:gd name="adj" fmla="val 13118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2" name="Shape 4"/>
          <p:cNvSpPr/>
          <p:nvPr/>
        </p:nvSpPr>
        <p:spPr>
          <a:xfrm flipH="1">
            <a:off x="785812" y="3687960"/>
            <a:ext cx="1" cy="774503"/>
          </a:xfrm>
          <a:prstGeom prst="line">
            <a:avLst/>
          </a:prstGeom>
          <a:ln w="47625">
            <a:solidFill>
              <a:srgbClr val="7C529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5"/>
          <p:cNvSpPr txBox="1"/>
          <p:nvPr/>
        </p:nvSpPr>
        <p:spPr>
          <a:xfrm>
            <a:off x="1063526" y="3941862"/>
            <a:ext cx="7205865" cy="253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Language is inherently self-referential and unstable, not a stable ontology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 txBox="1"/>
          <p:nvPr/>
        </p:nvSpPr>
        <p:spPr>
          <a:xfrm>
            <a:off x="762000" y="634901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QBism &amp; Agent-Centered Reality</a:t>
            </a:r>
          </a:p>
        </p:txBody>
      </p:sp>
      <p:sp>
        <p:nvSpPr>
          <p:cNvPr id="66" name="Text 1"/>
          <p:cNvSpPr txBox="1"/>
          <p:nvPr/>
        </p:nvSpPr>
        <p:spPr>
          <a:xfrm>
            <a:off x="762000" y="1285725"/>
            <a:ext cx="7772400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3000"/>
              </a:spcBef>
              <a:defRPr b="1" sz="22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Quantum states = beliefs</a:t>
            </a:r>
          </a:p>
        </p:txBody>
      </p:sp>
      <p:sp>
        <p:nvSpPr>
          <p:cNvPr id="67" name="Text 2"/>
          <p:cNvSpPr txBox="1"/>
          <p:nvPr/>
        </p:nvSpPr>
        <p:spPr>
          <a:xfrm>
            <a:off x="920750" y="1990576"/>
            <a:ext cx="7461250" cy="124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QBism reframes quantum mechanics as personal Bayesian updates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There is no observer-independent wavefunction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Reality is participatory</a:t>
            </a:r>
          </a:p>
        </p:txBody>
      </p:sp>
      <p:sp>
        <p:nvSpPr>
          <p:cNvPr id="68" name="Text 3"/>
          <p:cNvSpPr/>
          <p:nvPr/>
        </p:nvSpPr>
        <p:spPr>
          <a:xfrm>
            <a:off x="762000" y="3659385"/>
            <a:ext cx="7620000" cy="792213"/>
          </a:xfrm>
          <a:prstGeom prst="roundRect">
            <a:avLst>
              <a:gd name="adj" fmla="val 12825"/>
            </a:avLst>
          </a:prstGeom>
          <a:solidFill>
            <a:srgbClr val="2C1B4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9" name="Text 4"/>
          <p:cNvSpPr txBox="1"/>
          <p:nvPr/>
        </p:nvSpPr>
        <p:spPr>
          <a:xfrm>
            <a:off x="944779" y="3913287"/>
            <a:ext cx="7254441" cy="26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Language is also belief, not objective signal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 txBox="1"/>
          <p:nvPr/>
        </p:nvSpPr>
        <p:spPr>
          <a:xfrm>
            <a:off x="685800" y="381000"/>
            <a:ext cx="7772400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500"/>
              </a:spcBef>
              <a:defRPr b="1" sz="30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Neural / Agent Allegory</a:t>
            </a:r>
          </a:p>
        </p:txBody>
      </p:sp>
      <p:sp>
        <p:nvSpPr>
          <p:cNvPr id="72" name="Text 1"/>
          <p:cNvSpPr/>
          <p:nvPr/>
        </p:nvSpPr>
        <p:spPr>
          <a:xfrm>
            <a:off x="762000" y="1000125"/>
            <a:ext cx="7620000" cy="797421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3" name="Shape 2"/>
          <p:cNvSpPr/>
          <p:nvPr/>
        </p:nvSpPr>
        <p:spPr>
          <a:xfrm flipH="1">
            <a:off x="785812" y="1000125"/>
            <a:ext cx="1" cy="797422"/>
          </a:xfrm>
          <a:prstGeom prst="line">
            <a:avLst/>
          </a:prstGeom>
          <a:ln w="47625">
            <a:solidFill>
              <a:srgbClr val="16A0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3"/>
          <p:cNvSpPr txBox="1"/>
          <p:nvPr/>
        </p:nvSpPr>
        <p:spPr>
          <a:xfrm>
            <a:off x="1038224" y="1294061"/>
            <a:ext cx="273734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b="1" sz="14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Neurons</a:t>
            </a:r>
          </a:p>
        </p:txBody>
      </p:sp>
      <p:sp>
        <p:nvSpPr>
          <p:cNvPr id="75" name="Text 4"/>
          <p:cNvSpPr txBox="1"/>
          <p:nvPr/>
        </p:nvSpPr>
        <p:spPr>
          <a:xfrm>
            <a:off x="3823394" y="1279773"/>
            <a:ext cx="207214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↔</a:t>
            </a:r>
          </a:p>
        </p:txBody>
      </p:sp>
      <p:sp>
        <p:nvSpPr>
          <p:cNvPr id="76" name="Text 5"/>
          <p:cNvSpPr txBox="1"/>
          <p:nvPr/>
        </p:nvSpPr>
        <p:spPr>
          <a:xfrm>
            <a:off x="4128046" y="1292125"/>
            <a:ext cx="4105862" cy="20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1400"/>
              </a:spcBef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Agents in a Field of Agency - Consciousness</a:t>
            </a:r>
          </a:p>
        </p:txBody>
      </p:sp>
      <p:sp>
        <p:nvSpPr>
          <p:cNvPr id="77" name="Text 6"/>
          <p:cNvSpPr/>
          <p:nvPr/>
        </p:nvSpPr>
        <p:spPr>
          <a:xfrm>
            <a:off x="762000" y="1873746"/>
            <a:ext cx="7620000" cy="797422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8" name="Shape 7"/>
          <p:cNvSpPr/>
          <p:nvPr/>
        </p:nvSpPr>
        <p:spPr>
          <a:xfrm flipH="1">
            <a:off x="785812" y="1873746"/>
            <a:ext cx="1" cy="797422"/>
          </a:xfrm>
          <a:prstGeom prst="line">
            <a:avLst/>
          </a:prstGeom>
          <a:ln w="47625">
            <a:solidFill>
              <a:srgbClr val="16A0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8"/>
          <p:cNvSpPr txBox="1"/>
          <p:nvPr/>
        </p:nvSpPr>
        <p:spPr>
          <a:xfrm>
            <a:off x="1038224" y="2167682"/>
            <a:ext cx="273734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b="1" sz="14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Weights</a:t>
            </a:r>
          </a:p>
        </p:txBody>
      </p:sp>
      <p:sp>
        <p:nvSpPr>
          <p:cNvPr id="80" name="Text 9"/>
          <p:cNvSpPr txBox="1"/>
          <p:nvPr/>
        </p:nvSpPr>
        <p:spPr>
          <a:xfrm>
            <a:off x="3823394" y="2153393"/>
            <a:ext cx="207214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↔</a:t>
            </a:r>
          </a:p>
        </p:txBody>
      </p:sp>
      <p:sp>
        <p:nvSpPr>
          <p:cNvPr id="81" name="Text 10"/>
          <p:cNvSpPr txBox="1"/>
          <p:nvPr/>
        </p:nvSpPr>
        <p:spPr>
          <a:xfrm>
            <a:off x="4128046" y="2165747"/>
            <a:ext cx="4105862" cy="20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1400"/>
              </a:spcBef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Belief Connections Between Agents</a:t>
            </a:r>
          </a:p>
        </p:txBody>
      </p:sp>
      <p:sp>
        <p:nvSpPr>
          <p:cNvPr id="82" name="Text 11"/>
          <p:cNvSpPr/>
          <p:nvPr/>
        </p:nvSpPr>
        <p:spPr>
          <a:xfrm>
            <a:off x="762000" y="2747366"/>
            <a:ext cx="7620000" cy="797422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83" name="Shape 12"/>
          <p:cNvSpPr/>
          <p:nvPr/>
        </p:nvSpPr>
        <p:spPr>
          <a:xfrm flipH="1">
            <a:off x="785812" y="2747366"/>
            <a:ext cx="1" cy="797423"/>
          </a:xfrm>
          <a:prstGeom prst="line">
            <a:avLst/>
          </a:prstGeom>
          <a:ln w="47625">
            <a:solidFill>
              <a:srgbClr val="16A0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3"/>
          <p:cNvSpPr txBox="1"/>
          <p:nvPr/>
        </p:nvSpPr>
        <p:spPr>
          <a:xfrm>
            <a:off x="1038224" y="3041302"/>
            <a:ext cx="2737344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b="1" sz="14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Hidden layers</a:t>
            </a:r>
          </a:p>
        </p:txBody>
      </p:sp>
      <p:sp>
        <p:nvSpPr>
          <p:cNvPr id="85" name="Text 14"/>
          <p:cNvSpPr txBox="1"/>
          <p:nvPr/>
        </p:nvSpPr>
        <p:spPr>
          <a:xfrm>
            <a:off x="3823394" y="3027015"/>
            <a:ext cx="207214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↔</a:t>
            </a:r>
          </a:p>
        </p:txBody>
      </p:sp>
      <p:sp>
        <p:nvSpPr>
          <p:cNvPr id="86" name="Text 15"/>
          <p:cNvSpPr txBox="1"/>
          <p:nvPr/>
        </p:nvSpPr>
        <p:spPr>
          <a:xfrm>
            <a:off x="4128046" y="3039367"/>
            <a:ext cx="4105862" cy="20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1400"/>
              </a:spcBef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Latent Structures of Meaning (Map states)</a:t>
            </a:r>
          </a:p>
        </p:txBody>
      </p:sp>
      <p:sp>
        <p:nvSpPr>
          <p:cNvPr id="87" name="Text 16"/>
          <p:cNvSpPr/>
          <p:nvPr/>
        </p:nvSpPr>
        <p:spPr>
          <a:xfrm>
            <a:off x="762000" y="3620987"/>
            <a:ext cx="7620000" cy="797422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88" name="Shape 17"/>
          <p:cNvSpPr/>
          <p:nvPr/>
        </p:nvSpPr>
        <p:spPr>
          <a:xfrm flipH="1">
            <a:off x="785812" y="3620987"/>
            <a:ext cx="1" cy="797422"/>
          </a:xfrm>
          <a:prstGeom prst="line">
            <a:avLst/>
          </a:prstGeom>
          <a:ln w="47625">
            <a:solidFill>
              <a:srgbClr val="16A0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8"/>
          <p:cNvSpPr txBox="1"/>
          <p:nvPr/>
        </p:nvSpPr>
        <p:spPr>
          <a:xfrm>
            <a:off x="1038224" y="3914923"/>
            <a:ext cx="2737344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b="1" sz="14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Backpropagation</a:t>
            </a:r>
          </a:p>
        </p:txBody>
      </p:sp>
      <p:sp>
        <p:nvSpPr>
          <p:cNvPr id="90" name="Text 19"/>
          <p:cNvSpPr txBox="1"/>
          <p:nvPr/>
        </p:nvSpPr>
        <p:spPr>
          <a:xfrm>
            <a:off x="3823394" y="3900635"/>
            <a:ext cx="207214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↔</a:t>
            </a:r>
          </a:p>
        </p:txBody>
      </p:sp>
      <p:sp>
        <p:nvSpPr>
          <p:cNvPr id="91" name="Text 20"/>
          <p:cNvSpPr txBox="1"/>
          <p:nvPr/>
        </p:nvSpPr>
        <p:spPr>
          <a:xfrm>
            <a:off x="4128046" y="3912989"/>
            <a:ext cx="4105862" cy="20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1400"/>
              </a:spcBef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Belief Revision and Self-Reflection (Learning)</a:t>
            </a:r>
          </a:p>
        </p:txBody>
      </p:sp>
      <p:sp>
        <p:nvSpPr>
          <p:cNvPr id="92" name="Text 21"/>
          <p:cNvSpPr txBox="1"/>
          <p:nvPr/>
        </p:nvSpPr>
        <p:spPr>
          <a:xfrm>
            <a:off x="685800" y="4481810"/>
            <a:ext cx="77724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300"/>
              </a:spcBef>
              <a:defRPr i="1" sz="1300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Neural networks as metaphor (not substrate) for networks of meaning as experienced by consciousness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 txBox="1"/>
          <p:nvPr/>
        </p:nvSpPr>
        <p:spPr>
          <a:xfrm>
            <a:off x="762000" y="634901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35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Forward Pass = Perception</a:t>
            </a:r>
          </a:p>
        </p:txBody>
      </p:sp>
      <p:sp>
        <p:nvSpPr>
          <p:cNvPr id="95" name="Text 1"/>
          <p:cNvSpPr/>
          <p:nvPr/>
        </p:nvSpPr>
        <p:spPr>
          <a:xfrm>
            <a:off x="863500" y="1603177"/>
            <a:ext cx="1998466" cy="745928"/>
          </a:xfrm>
          <a:prstGeom prst="roundRect">
            <a:avLst>
              <a:gd name="adj" fmla="val 13621"/>
            </a:avLst>
          </a:prstGeom>
          <a:solidFill>
            <a:srgbClr val="16A08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6" name="Text 2"/>
          <p:cNvSpPr txBox="1"/>
          <p:nvPr/>
        </p:nvSpPr>
        <p:spPr>
          <a:xfrm>
            <a:off x="1102495" y="1857076"/>
            <a:ext cx="1520477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97" name="Text 3"/>
          <p:cNvSpPr txBox="1"/>
          <p:nvPr/>
        </p:nvSpPr>
        <p:spPr>
          <a:xfrm>
            <a:off x="3026866" y="1761826"/>
            <a:ext cx="388621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98" name="Text 4"/>
          <p:cNvSpPr/>
          <p:nvPr/>
        </p:nvSpPr>
        <p:spPr>
          <a:xfrm>
            <a:off x="3572767" y="1603177"/>
            <a:ext cx="1998466" cy="745928"/>
          </a:xfrm>
          <a:prstGeom prst="roundRect">
            <a:avLst>
              <a:gd name="adj" fmla="val 13621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9" name="Text 5"/>
          <p:cNvSpPr txBox="1"/>
          <p:nvPr/>
        </p:nvSpPr>
        <p:spPr>
          <a:xfrm>
            <a:off x="3811761" y="1857076"/>
            <a:ext cx="1520477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Hidden</a:t>
            </a:r>
          </a:p>
        </p:txBody>
      </p:sp>
      <p:sp>
        <p:nvSpPr>
          <p:cNvPr id="100" name="Text 6"/>
          <p:cNvSpPr txBox="1"/>
          <p:nvPr/>
        </p:nvSpPr>
        <p:spPr>
          <a:xfrm>
            <a:off x="5736133" y="1761826"/>
            <a:ext cx="388621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1" name="Text 7"/>
          <p:cNvSpPr/>
          <p:nvPr/>
        </p:nvSpPr>
        <p:spPr>
          <a:xfrm>
            <a:off x="6282035" y="1603177"/>
            <a:ext cx="1998465" cy="745928"/>
          </a:xfrm>
          <a:prstGeom prst="roundRect">
            <a:avLst>
              <a:gd name="adj" fmla="val 13621"/>
            </a:avLst>
          </a:prstGeom>
          <a:solidFill>
            <a:srgbClr val="2C1B4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02" name="Text 8"/>
          <p:cNvSpPr txBox="1"/>
          <p:nvPr/>
        </p:nvSpPr>
        <p:spPr>
          <a:xfrm>
            <a:off x="6521029" y="1857076"/>
            <a:ext cx="1520477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03" name="Text 9"/>
          <p:cNvSpPr txBox="1"/>
          <p:nvPr/>
        </p:nvSpPr>
        <p:spPr>
          <a:xfrm>
            <a:off x="920750" y="2806203"/>
            <a:ext cx="7461250" cy="1168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3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Input = Sensory / Linguistic Stimulation</a:t>
            </a:r>
          </a:p>
          <a:p>
            <a:pPr marL="158750" indent="-158750">
              <a:lnSpc>
                <a:spcPts val="23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Hidden Activations = Latent Associations</a:t>
            </a:r>
          </a:p>
          <a:p>
            <a:pPr marL="158750" indent="-158750">
              <a:lnSpc>
                <a:spcPts val="23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Output = Constructed Meaning</a:t>
            </a:r>
          </a:p>
        </p:txBody>
      </p:sp>
      <p:sp>
        <p:nvSpPr>
          <p:cNvPr id="104" name="Text 10"/>
          <p:cNvSpPr txBox="1"/>
          <p:nvPr/>
        </p:nvSpPr>
        <p:spPr>
          <a:xfrm>
            <a:off x="685800" y="4322564"/>
            <a:ext cx="7772400" cy="425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500"/>
              </a:spcBef>
              <a:defRPr i="1" sz="1500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symbolic "objective world" is processed through the same belief framework as our natural physical senses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 txBox="1"/>
          <p:nvPr/>
        </p:nvSpPr>
        <p:spPr>
          <a:xfrm>
            <a:off x="762000" y="634901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35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Backpropagation = Reflection</a:t>
            </a:r>
          </a:p>
        </p:txBody>
      </p:sp>
      <p:sp>
        <p:nvSpPr>
          <p:cNvPr id="107" name="Text 1"/>
          <p:cNvSpPr/>
          <p:nvPr/>
        </p:nvSpPr>
        <p:spPr>
          <a:xfrm>
            <a:off x="863500" y="1603177"/>
            <a:ext cx="1998466" cy="745928"/>
          </a:xfrm>
          <a:prstGeom prst="roundRect">
            <a:avLst>
              <a:gd name="adj" fmla="val 13621"/>
            </a:avLst>
          </a:prstGeom>
          <a:solidFill>
            <a:srgbClr val="7C529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08" name="Text 2"/>
          <p:cNvSpPr txBox="1"/>
          <p:nvPr/>
        </p:nvSpPr>
        <p:spPr>
          <a:xfrm>
            <a:off x="1102495" y="1857076"/>
            <a:ext cx="1520477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Error Signal</a:t>
            </a:r>
          </a:p>
        </p:txBody>
      </p:sp>
      <p:sp>
        <p:nvSpPr>
          <p:cNvPr id="109" name="Text 3"/>
          <p:cNvSpPr txBox="1"/>
          <p:nvPr/>
        </p:nvSpPr>
        <p:spPr>
          <a:xfrm>
            <a:off x="3026866" y="1761826"/>
            <a:ext cx="388621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←</a:t>
            </a:r>
          </a:p>
        </p:txBody>
      </p:sp>
      <p:sp>
        <p:nvSpPr>
          <p:cNvPr id="110" name="Text 4"/>
          <p:cNvSpPr/>
          <p:nvPr/>
        </p:nvSpPr>
        <p:spPr>
          <a:xfrm>
            <a:off x="3572767" y="1603177"/>
            <a:ext cx="1998466" cy="745928"/>
          </a:xfrm>
          <a:prstGeom prst="roundRect">
            <a:avLst>
              <a:gd name="adj" fmla="val 13621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11" name="Text 5"/>
          <p:cNvSpPr txBox="1"/>
          <p:nvPr/>
        </p:nvSpPr>
        <p:spPr>
          <a:xfrm>
            <a:off x="3811761" y="1857076"/>
            <a:ext cx="1520477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Adjustment</a:t>
            </a:r>
          </a:p>
        </p:txBody>
      </p:sp>
      <p:sp>
        <p:nvSpPr>
          <p:cNvPr id="112" name="Text 6"/>
          <p:cNvSpPr txBox="1"/>
          <p:nvPr/>
        </p:nvSpPr>
        <p:spPr>
          <a:xfrm>
            <a:off x="5736133" y="1761826"/>
            <a:ext cx="388621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←</a:t>
            </a:r>
          </a:p>
        </p:txBody>
      </p:sp>
      <p:sp>
        <p:nvSpPr>
          <p:cNvPr id="113" name="Text 7"/>
          <p:cNvSpPr/>
          <p:nvPr/>
        </p:nvSpPr>
        <p:spPr>
          <a:xfrm>
            <a:off x="6282035" y="1603177"/>
            <a:ext cx="1998465" cy="745928"/>
          </a:xfrm>
          <a:prstGeom prst="roundRect">
            <a:avLst>
              <a:gd name="adj" fmla="val 13621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14" name="Text 8"/>
          <p:cNvSpPr txBox="1"/>
          <p:nvPr/>
        </p:nvSpPr>
        <p:spPr>
          <a:xfrm>
            <a:off x="6521029" y="1857076"/>
            <a:ext cx="1520477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Refinement</a:t>
            </a:r>
          </a:p>
        </p:txBody>
      </p:sp>
      <p:sp>
        <p:nvSpPr>
          <p:cNvPr id="115" name="Text 9"/>
          <p:cNvSpPr txBox="1"/>
          <p:nvPr/>
        </p:nvSpPr>
        <p:spPr>
          <a:xfrm>
            <a:off x="920750" y="2793503"/>
            <a:ext cx="7461250" cy="1168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3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Prediction error as mismatch in expectation</a:t>
            </a:r>
          </a:p>
          <a:p>
            <a:pPr marL="158750" indent="-158750">
              <a:lnSpc>
                <a:spcPts val="23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Weight updates as internal reconfiguration</a:t>
            </a:r>
          </a:p>
          <a:p>
            <a:pPr marL="158750" indent="-158750">
              <a:lnSpc>
                <a:spcPts val="2300"/>
              </a:lnSpc>
              <a:spcBef>
                <a:spcPts val="12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Consciousness as recursive correction mechanism</a:t>
            </a:r>
          </a:p>
        </p:txBody>
      </p:sp>
      <p:sp>
        <p:nvSpPr>
          <p:cNvPr id="116" name="Text 10"/>
          <p:cNvSpPr txBox="1"/>
          <p:nvPr/>
        </p:nvSpPr>
        <p:spPr>
          <a:xfrm>
            <a:off x="685800" y="4322564"/>
            <a:ext cx="7772400" cy="425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500"/>
              </a:spcBef>
              <a:defRPr i="1" sz="1500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 self-reflection corrects the "map" of language through consciousness to an unconscious instinct. That is learning.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 txBox="1"/>
          <p:nvPr/>
        </p:nvSpPr>
        <p:spPr>
          <a:xfrm>
            <a:off x="685800" y="507950"/>
            <a:ext cx="7772400" cy="481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500"/>
              </a:spcBef>
              <a:defRPr b="1" sz="34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Emotional Belief Loop</a:t>
            </a:r>
          </a:p>
        </p:txBody>
      </p:sp>
      <p:sp>
        <p:nvSpPr>
          <p:cNvPr id="119" name="Text 1"/>
          <p:cNvSpPr/>
          <p:nvPr/>
        </p:nvSpPr>
        <p:spPr>
          <a:xfrm>
            <a:off x="1241673" y="1514475"/>
            <a:ext cx="1407469" cy="574477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20" name="Text 2"/>
          <p:cNvSpPr txBox="1"/>
          <p:nvPr/>
        </p:nvSpPr>
        <p:spPr>
          <a:xfrm>
            <a:off x="1486576" y="1692175"/>
            <a:ext cx="917660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Language</a:t>
            </a:r>
          </a:p>
        </p:txBody>
      </p:sp>
      <p:sp>
        <p:nvSpPr>
          <p:cNvPr id="121" name="Text 3"/>
          <p:cNvSpPr txBox="1"/>
          <p:nvPr/>
        </p:nvSpPr>
        <p:spPr>
          <a:xfrm>
            <a:off x="2776091" y="1625500"/>
            <a:ext cx="310897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400"/>
              </a:spcBef>
              <a:defRPr sz="24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22" name="Text 4"/>
          <p:cNvSpPr/>
          <p:nvPr/>
        </p:nvSpPr>
        <p:spPr>
          <a:xfrm>
            <a:off x="3207841" y="1514475"/>
            <a:ext cx="1280518" cy="574477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23" name="Text 5"/>
          <p:cNvSpPr txBox="1"/>
          <p:nvPr/>
        </p:nvSpPr>
        <p:spPr>
          <a:xfrm>
            <a:off x="3454015" y="1692175"/>
            <a:ext cx="78817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Meaning</a:t>
            </a:r>
          </a:p>
        </p:txBody>
      </p:sp>
      <p:sp>
        <p:nvSpPr>
          <p:cNvPr id="124" name="Text 6"/>
          <p:cNvSpPr txBox="1"/>
          <p:nvPr/>
        </p:nvSpPr>
        <p:spPr>
          <a:xfrm>
            <a:off x="4615308" y="1625500"/>
            <a:ext cx="310897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400"/>
              </a:spcBef>
              <a:defRPr sz="24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25" name="Text 7"/>
          <p:cNvSpPr/>
          <p:nvPr/>
        </p:nvSpPr>
        <p:spPr>
          <a:xfrm>
            <a:off x="5047058" y="1514475"/>
            <a:ext cx="1269804" cy="574477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26" name="Text 8"/>
          <p:cNvSpPr txBox="1"/>
          <p:nvPr/>
        </p:nvSpPr>
        <p:spPr>
          <a:xfrm>
            <a:off x="5293340" y="1692175"/>
            <a:ext cx="7772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Emotion</a:t>
            </a:r>
          </a:p>
        </p:txBody>
      </p:sp>
      <p:sp>
        <p:nvSpPr>
          <p:cNvPr id="127" name="Text 9"/>
          <p:cNvSpPr txBox="1"/>
          <p:nvPr/>
        </p:nvSpPr>
        <p:spPr>
          <a:xfrm>
            <a:off x="6443810" y="1625500"/>
            <a:ext cx="310897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400"/>
              </a:spcBef>
              <a:defRPr sz="24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28" name="Text 10"/>
          <p:cNvSpPr/>
          <p:nvPr/>
        </p:nvSpPr>
        <p:spPr>
          <a:xfrm>
            <a:off x="6875561" y="1514475"/>
            <a:ext cx="1026617" cy="574477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29" name="Text 11"/>
          <p:cNvSpPr txBox="1"/>
          <p:nvPr/>
        </p:nvSpPr>
        <p:spPr>
          <a:xfrm>
            <a:off x="7124273" y="1692175"/>
            <a:ext cx="529192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Belief</a:t>
            </a:r>
          </a:p>
        </p:txBody>
      </p:sp>
      <p:sp>
        <p:nvSpPr>
          <p:cNvPr id="130" name="Text 12"/>
          <p:cNvSpPr txBox="1"/>
          <p:nvPr/>
        </p:nvSpPr>
        <p:spPr>
          <a:xfrm>
            <a:off x="920750" y="2600175"/>
            <a:ext cx="7461250" cy="1084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000"/>
              </a:lnSpc>
              <a:spcBef>
                <a:spcPts val="1300"/>
              </a:spcBef>
              <a:buSzPct val="100000"/>
              <a:buChar char="•"/>
              <a:defRPr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Words trigger visceral reactions</a:t>
            </a:r>
          </a:p>
          <a:p>
            <a:pPr marL="158750" indent="-158750">
              <a:lnSpc>
                <a:spcPts val="2000"/>
              </a:lnSpc>
              <a:spcBef>
                <a:spcPts val="1300"/>
              </a:spcBef>
              <a:buSzPct val="100000"/>
              <a:buChar char="•"/>
              <a:defRPr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Emotional weighting reinforces belief in "objective truth"</a:t>
            </a:r>
          </a:p>
          <a:p>
            <a:pPr marL="158750" indent="-158750">
              <a:lnSpc>
                <a:spcPts val="2000"/>
              </a:lnSpc>
              <a:spcBef>
                <a:spcPts val="1300"/>
              </a:spcBef>
              <a:buSzPct val="100000"/>
              <a:buChar char="•"/>
              <a:defRPr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loop entangles subject and object</a:t>
            </a:r>
          </a:p>
        </p:txBody>
      </p:sp>
      <p:sp>
        <p:nvSpPr>
          <p:cNvPr id="131" name="Text 13"/>
          <p:cNvSpPr/>
          <p:nvPr/>
        </p:nvSpPr>
        <p:spPr>
          <a:xfrm>
            <a:off x="762000" y="3976241"/>
            <a:ext cx="7620000" cy="663477"/>
          </a:xfrm>
          <a:prstGeom prst="roundRect">
            <a:avLst>
              <a:gd name="adj" fmla="val 15313"/>
            </a:avLst>
          </a:prstGeom>
          <a:solidFill>
            <a:srgbClr val="2C1B4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2" name="Text 14"/>
          <p:cNvSpPr txBox="1"/>
          <p:nvPr/>
        </p:nvSpPr>
        <p:spPr>
          <a:xfrm>
            <a:off x="893012" y="4179391"/>
            <a:ext cx="7357975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Language feels real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 txBox="1"/>
          <p:nvPr/>
        </p:nvSpPr>
        <p:spPr>
          <a:xfrm>
            <a:off x="762000" y="571500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Time-Being</a:t>
            </a:r>
          </a:p>
        </p:txBody>
      </p:sp>
      <p:sp>
        <p:nvSpPr>
          <p:cNvPr id="135" name="Text 1"/>
          <p:cNvSpPr txBox="1"/>
          <p:nvPr/>
        </p:nvSpPr>
        <p:spPr>
          <a:xfrm>
            <a:off x="762000" y="1247775"/>
            <a:ext cx="777240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500"/>
              </a:spcBef>
              <a:defRPr b="1" sz="20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Intention, Will, Moment</a:t>
            </a:r>
          </a:p>
        </p:txBody>
      </p:sp>
      <p:sp>
        <p:nvSpPr>
          <p:cNvPr id="136" name="Text 2"/>
          <p:cNvSpPr/>
          <p:nvPr/>
        </p:nvSpPr>
        <p:spPr>
          <a:xfrm>
            <a:off x="863500" y="1860500"/>
            <a:ext cx="2064099" cy="977801"/>
          </a:xfrm>
          <a:prstGeom prst="roundRect">
            <a:avLst>
              <a:gd name="adj" fmla="val 10391"/>
            </a:avLst>
          </a:prstGeom>
          <a:solidFill>
            <a:srgbClr val="F5F7FA"/>
          </a:solidFill>
          <a:ln w="38100">
            <a:solidFill>
              <a:srgbClr val="16A085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7" name="Text 3"/>
          <p:cNvSpPr txBox="1"/>
          <p:nvPr/>
        </p:nvSpPr>
        <p:spPr>
          <a:xfrm>
            <a:off x="1076031" y="2216050"/>
            <a:ext cx="1639037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Intention</a:t>
            </a:r>
          </a:p>
        </p:txBody>
      </p:sp>
      <p:sp>
        <p:nvSpPr>
          <p:cNvPr id="138" name="Text 4"/>
          <p:cNvSpPr txBox="1"/>
          <p:nvPr/>
        </p:nvSpPr>
        <p:spPr>
          <a:xfrm>
            <a:off x="3029099" y="2144613"/>
            <a:ext cx="362662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9" name="Text 5"/>
          <p:cNvSpPr/>
          <p:nvPr/>
        </p:nvSpPr>
        <p:spPr>
          <a:xfrm>
            <a:off x="3486150" y="1860500"/>
            <a:ext cx="2064098" cy="977801"/>
          </a:xfrm>
          <a:prstGeom prst="roundRect">
            <a:avLst>
              <a:gd name="adj" fmla="val 10391"/>
            </a:avLst>
          </a:prstGeom>
          <a:solidFill>
            <a:srgbClr val="F5F7FA"/>
          </a:solidFill>
          <a:ln w="38100">
            <a:solidFill>
              <a:srgbClr val="7C5295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0" name="Text 6"/>
          <p:cNvSpPr txBox="1"/>
          <p:nvPr/>
        </p:nvSpPr>
        <p:spPr>
          <a:xfrm>
            <a:off x="3698680" y="2216050"/>
            <a:ext cx="1639036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Moment</a:t>
            </a:r>
          </a:p>
        </p:txBody>
      </p:sp>
      <p:sp>
        <p:nvSpPr>
          <p:cNvPr id="141" name="Text 7"/>
          <p:cNvSpPr txBox="1"/>
          <p:nvPr/>
        </p:nvSpPr>
        <p:spPr>
          <a:xfrm>
            <a:off x="5651748" y="2144613"/>
            <a:ext cx="362662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2" name="Text 8"/>
          <p:cNvSpPr/>
          <p:nvPr/>
        </p:nvSpPr>
        <p:spPr>
          <a:xfrm>
            <a:off x="6108798" y="1860500"/>
            <a:ext cx="2171850" cy="977801"/>
          </a:xfrm>
          <a:prstGeom prst="roundRect">
            <a:avLst>
              <a:gd name="adj" fmla="val 10391"/>
            </a:avLst>
          </a:prstGeom>
          <a:solidFill>
            <a:srgbClr val="F5F7FA"/>
          </a:solidFill>
          <a:ln w="38100">
            <a:solidFill>
              <a:srgbClr val="2C1B47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3" name="Text 9"/>
          <p:cNvSpPr txBox="1"/>
          <p:nvPr/>
        </p:nvSpPr>
        <p:spPr>
          <a:xfrm>
            <a:off x="6320252" y="2216050"/>
            <a:ext cx="1748944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Extinguishment</a:t>
            </a:r>
          </a:p>
        </p:txBody>
      </p:sp>
      <p:sp>
        <p:nvSpPr>
          <p:cNvPr id="144" name="Text 10"/>
          <p:cNvSpPr txBox="1"/>
          <p:nvPr/>
        </p:nvSpPr>
        <p:spPr>
          <a:xfrm>
            <a:off x="920750" y="3155751"/>
            <a:ext cx="7461250" cy="10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000"/>
              </a:lnSpc>
              <a:spcBef>
                <a:spcPts val="1000"/>
              </a:spcBef>
              <a:buSzPct val="100000"/>
              <a:buChar char="•"/>
              <a:defRPr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moment is willed into being</a:t>
            </a:r>
          </a:p>
          <a:p>
            <a:pPr marL="158750" indent="-158750">
              <a:lnSpc>
                <a:spcPts val="2000"/>
              </a:lnSpc>
              <a:spcBef>
                <a:spcPts val="1000"/>
              </a:spcBef>
              <a:buSzPct val="100000"/>
              <a:buChar char="•"/>
              <a:defRPr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Then it collapses back into emptiness</a:t>
            </a:r>
          </a:p>
          <a:p>
            <a:pPr marL="158750" indent="-158750">
              <a:lnSpc>
                <a:spcPts val="2000"/>
              </a:lnSpc>
              <a:spcBef>
                <a:spcPts val="1000"/>
              </a:spcBef>
              <a:buSzPct val="100000"/>
              <a:buChar char="•"/>
              <a:defRPr sz="1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next moment re-asserts existence</a:t>
            </a:r>
          </a:p>
        </p:txBody>
      </p:sp>
      <p:sp>
        <p:nvSpPr>
          <p:cNvPr id="145" name="Text 11"/>
          <p:cNvSpPr txBox="1"/>
          <p:nvPr/>
        </p:nvSpPr>
        <p:spPr>
          <a:xfrm>
            <a:off x="762000" y="4392216"/>
            <a:ext cx="77724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500"/>
              </a:spcBef>
              <a:defRPr i="1" sz="1400">
                <a:solidFill>
                  <a:srgbClr val="7C529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phenomenology of "now," not continuous flow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C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 txBox="1"/>
          <p:nvPr/>
        </p:nvSpPr>
        <p:spPr>
          <a:xfrm>
            <a:off x="1747066" y="649931"/>
            <a:ext cx="5649869" cy="53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3500"/>
              </a:spcBef>
              <a:defRPr b="1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Paradox of Existence</a:t>
            </a:r>
          </a:p>
        </p:txBody>
      </p:sp>
      <p:sp>
        <p:nvSpPr>
          <p:cNvPr id="148" name="Text 1"/>
          <p:cNvSpPr txBox="1"/>
          <p:nvPr/>
        </p:nvSpPr>
        <p:spPr>
          <a:xfrm>
            <a:off x="1747066" y="1656308"/>
            <a:ext cx="5649869" cy="1332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600"/>
              </a:lnSpc>
              <a:spcBef>
                <a:spcPts val="3500"/>
              </a:spcBef>
              <a:defRPr sz="24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Existence arises out of non-existence,</a:t>
            </a:r>
          </a:p>
          <a:p>
            <a:pPr algn="ctr">
              <a:lnSpc>
                <a:spcPts val="3600"/>
              </a:lnSpc>
              <a:spcBef>
                <a:spcPts val="3500"/>
              </a:spcBef>
              <a:defRPr sz="24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moment by moment</a:t>
            </a:r>
          </a:p>
        </p:txBody>
      </p:sp>
      <p:sp>
        <p:nvSpPr>
          <p:cNvPr id="149" name="Text 2"/>
          <p:cNvSpPr txBox="1"/>
          <p:nvPr/>
        </p:nvSpPr>
        <p:spPr>
          <a:xfrm>
            <a:off x="2217688" y="3015108"/>
            <a:ext cx="4708476" cy="153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Every moment is born from emptiness</a:t>
            </a:r>
          </a:p>
          <a:p>
            <a:pPr marL="342900" indent="-34290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But emptiness is not a void—it is possibility</a:t>
            </a:r>
          </a:p>
          <a:p>
            <a:pPr marL="342900" indent="-34290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paradox: being and non-being co-emerge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 txBox="1"/>
          <p:nvPr/>
        </p:nvSpPr>
        <p:spPr>
          <a:xfrm>
            <a:off x="762000" y="634901"/>
            <a:ext cx="77724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0"/>
              </a:spcBef>
              <a:defRPr b="1" sz="36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humanizer.com</a:t>
            </a:r>
            <a:r>
              <a:t> The Intention</a:t>
            </a:r>
          </a:p>
        </p:txBody>
      </p:sp>
      <p:sp>
        <p:nvSpPr>
          <p:cNvPr id="152" name="Text 1"/>
          <p:cNvSpPr txBox="1"/>
          <p:nvPr/>
        </p:nvSpPr>
        <p:spPr>
          <a:xfrm>
            <a:off x="920750" y="1539776"/>
            <a:ext cx="7461250" cy="1536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allegory engine as transformation between taxonomies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Narrative interface that surfaces the subjective core</a:t>
            </a:r>
          </a:p>
          <a:p>
            <a:pPr marL="158750" indent="-158750">
              <a:lnSpc>
                <a:spcPts val="2300"/>
              </a:lnSpc>
              <a:spcBef>
                <a:spcPts val="1500"/>
              </a:spcBef>
              <a:buSzPct val="100000"/>
              <a:buChar char="•"/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 aspire to evoke </a:t>
            </a:r>
            <a:r>
              <a:t>insight from you, and remind you now and then the paraox of all insights. </a:t>
            </a:r>
          </a:p>
        </p:txBody>
      </p:sp>
      <p:sp>
        <p:nvSpPr>
          <p:cNvPr id="153" name="Text 2"/>
          <p:cNvSpPr/>
          <p:nvPr/>
        </p:nvSpPr>
        <p:spPr>
          <a:xfrm>
            <a:off x="762000" y="3208585"/>
            <a:ext cx="7620000" cy="812454"/>
          </a:xfrm>
          <a:prstGeom prst="roundRect">
            <a:avLst>
              <a:gd name="adj" fmla="val 12505"/>
            </a:avLst>
          </a:prstGeom>
          <a:solidFill>
            <a:srgbClr val="16A08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4" name="Text 3"/>
          <p:cNvSpPr txBox="1"/>
          <p:nvPr/>
        </p:nvSpPr>
        <p:spPr>
          <a:xfrm>
            <a:off x="1015901" y="3462485"/>
            <a:ext cx="7254441" cy="286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Goal: Shift users from linguistic identification to self-awareness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/>
        </p:nvSpPr>
        <p:spPr>
          <a:xfrm>
            <a:off x="2228289" y="688479"/>
            <a:ext cx="4687273" cy="1728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5400"/>
              </a:lnSpc>
              <a:spcBef>
                <a:spcPts val="3000"/>
              </a:spcBef>
              <a:defRPr sz="42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Witness your own</a:t>
            </a:r>
          </a:p>
          <a:p>
            <a:pPr algn="ctr">
              <a:lnSpc>
                <a:spcPts val="5400"/>
              </a:lnSpc>
              <a:spcBef>
                <a:spcPts val="3000"/>
              </a:spcBef>
              <a:defRPr sz="42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subjective agency</a:t>
            </a:r>
          </a:p>
        </p:txBody>
      </p:sp>
      <p:sp>
        <p:nvSpPr>
          <p:cNvPr id="157" name="Text 1"/>
          <p:cNvSpPr txBox="1"/>
          <p:nvPr/>
        </p:nvSpPr>
        <p:spPr>
          <a:xfrm>
            <a:off x="2228289" y="2456258"/>
            <a:ext cx="4687273" cy="358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spcBef>
                <a:spcPts val="4000"/>
              </a:spcBef>
              <a:defRPr sz="2000">
                <a:solidFill>
                  <a:srgbClr val="16A0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Bridging theory to experiential shift</a:t>
            </a:r>
          </a:p>
        </p:txBody>
      </p:sp>
      <p:sp>
        <p:nvSpPr>
          <p:cNvPr id="158" name="Text 2"/>
          <p:cNvSpPr txBox="1"/>
          <p:nvPr/>
        </p:nvSpPr>
        <p:spPr>
          <a:xfrm>
            <a:off x="2228289" y="3345210"/>
            <a:ext cx="4687273" cy="662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00"/>
              </a:lnSpc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Reflect on a single word. Feel its "weight."</a:t>
            </a:r>
          </a:p>
          <a:p>
            <a:pPr algn="ctr">
              <a:lnSpc>
                <a:spcPts val="2700"/>
              </a:lnSpc>
              <a:defRPr sz="1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Then dissolve it into silence.</a:t>
            </a:r>
          </a:p>
        </p:txBody>
      </p:sp>
      <p:sp>
        <p:nvSpPr>
          <p:cNvPr id="159" name="Text 3"/>
          <p:cNvSpPr/>
          <p:nvPr/>
        </p:nvSpPr>
        <p:spPr>
          <a:xfrm>
            <a:off x="4063901" y="4417069"/>
            <a:ext cx="1015902" cy="38101"/>
          </a:xfrm>
          <a:prstGeom prst="rect">
            <a:avLst/>
          </a:prstGeom>
          <a:solidFill>
            <a:srgbClr val="16A08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 txBox="1"/>
          <p:nvPr/>
        </p:nvSpPr>
        <p:spPr>
          <a:xfrm>
            <a:off x="762000" y="507950"/>
            <a:ext cx="7772400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500"/>
              </a:spcBef>
              <a:defRPr b="1" sz="3200">
                <a:solidFill>
                  <a:srgbClr val="2C1B4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162" name="Text 1"/>
          <p:cNvSpPr/>
          <p:nvPr/>
        </p:nvSpPr>
        <p:spPr>
          <a:xfrm>
            <a:off x="361791" y="1165175"/>
            <a:ext cx="8020209" cy="1998461"/>
          </a:xfrm>
          <a:prstGeom prst="roundRect">
            <a:avLst>
              <a:gd name="adj" fmla="val 5084"/>
            </a:avLst>
          </a:prstGeom>
          <a:solidFill>
            <a:srgbClr val="F5F7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3" name="Shape 2"/>
          <p:cNvSpPr/>
          <p:nvPr/>
        </p:nvSpPr>
        <p:spPr>
          <a:xfrm flipH="1">
            <a:off x="785812" y="1144442"/>
            <a:ext cx="1" cy="1797746"/>
          </a:xfrm>
          <a:prstGeom prst="line">
            <a:avLst/>
          </a:prstGeom>
          <a:ln w="47625">
            <a:solidFill>
              <a:srgbClr val="16A0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3"/>
          <p:cNvSpPr txBox="1"/>
          <p:nvPr/>
        </p:nvSpPr>
        <p:spPr>
          <a:xfrm>
            <a:off x="1098277" y="1350028"/>
            <a:ext cx="7309396" cy="1592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b="1"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Three realms:</a:t>
            </a:r>
            <a:r>
              <a:rPr b="0"/>
              <a:t> Corporeal, Objective, Subjective</a:t>
            </a:r>
          </a:p>
          <a:p>
            <a:pPr>
              <a:lnSpc>
                <a:spcPts val="1800"/>
              </a:lnSpc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</a:p>
          <a:p>
            <a:pPr>
              <a:lnSpc>
                <a:spcPts val="1800"/>
              </a:lnSpc>
              <a:defRPr b="1"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Emotional proof:</a:t>
            </a:r>
            <a:r>
              <a:rPr b="0"/>
              <a:t> Language feels real through visceral belief</a:t>
            </a:r>
          </a:p>
          <a:p>
            <a:pPr>
              <a:lnSpc>
                <a:spcPts val="1800"/>
              </a:lnSpc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</a:p>
          <a:p>
            <a:pPr>
              <a:lnSpc>
                <a:spcPts val="1800"/>
              </a:lnSpc>
              <a:defRPr b="1"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Time-Being:</a:t>
            </a:r>
            <a:r>
              <a:rPr b="0"/>
              <a:t> Discrete moments of intention and will</a:t>
            </a:r>
          </a:p>
          <a:p>
            <a:pPr>
              <a:lnSpc>
                <a:spcPts val="1800"/>
              </a:lnSpc>
              <a:defRPr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</a:p>
          <a:p>
            <a:pPr>
              <a:lnSpc>
                <a:spcPts val="1800"/>
              </a:lnSpc>
              <a:defRPr b="1" sz="14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Interface goal:</a:t>
            </a:r>
            <a:r>
              <a:rPr b="0"/>
              <a:t> Awaken subjective agency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