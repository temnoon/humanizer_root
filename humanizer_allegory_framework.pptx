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0" y="1429494"/>
            <a:ext cx="1524000" cy="5075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1861245"/>
            <a:ext cx="7772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as a Sense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2756595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Re-seeing the Subjective / Objective Divide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3429595"/>
            <a:ext cx="777240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2500"/>
              </a:spcBef>
              <a:buNone/>
            </a:pPr>
            <a:r>
              <a:rPr lang="en-US" sz="16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proof for Humanizer.com's foundational paradigm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Illusion of the Objective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85726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200" i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live in a linguistic hallucination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990576"/>
            <a:ext cx="7620000" cy="1417141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52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offers the sense of a shared, "objective" world</a:t>
            </a:r>
            <a:endParaRPr lang="en-US" sz="1800" dirty="0"/>
          </a:p>
          <a:p>
            <a:pPr algn="l" marL="158750" indent="-158750">
              <a:lnSpc>
                <a:spcPts val="252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meaning is formed in consciousness</a:t>
            </a:r>
            <a:endParaRPr lang="en-US" sz="1800" dirty="0"/>
          </a:p>
          <a:p>
            <a:pPr algn="l" marL="158750" indent="-158750">
              <a:lnSpc>
                <a:spcPts val="252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illusion is powerful, emotionally embedded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507950"/>
            <a:ext cx="1981200" cy="1981200"/>
          </a:xfrm>
          <a:prstGeom prst="roundRect">
            <a:avLst>
              <a:gd name="adj" fmla="val 5128"/>
            </a:avLst>
          </a:prstGeom>
          <a:solidFill>
            <a:srgbClr val="F5F7FA"/>
          </a:solidFill>
          <a:ln w="3810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5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Realms of Existence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539776"/>
            <a:ext cx="2370683" cy="2565648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00100" y="1539776"/>
            <a:ext cx="0" cy="2565648"/>
          </a:xfrm>
          <a:prstGeom prst="line">
            <a:avLst/>
          </a:prstGeom>
          <a:noFill/>
          <a:ln w="762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101" y="1857226"/>
            <a:ext cx="18224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Corporeal / Physical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2101" y="2543026"/>
            <a:ext cx="1822415" cy="1244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which can be sensed and measured. The unnamable substrate of reality.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6584" y="1539776"/>
            <a:ext cx="2370683" cy="2565648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24684" y="1539776"/>
            <a:ext cx="0" cy="2565648"/>
          </a:xfrm>
          <a:prstGeom prst="line">
            <a:avLst/>
          </a:prstGeom>
          <a:noFill/>
          <a:ln w="76200">
            <a:solidFill>
              <a:srgbClr val="7C52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6685" y="1857226"/>
            <a:ext cx="18224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/ Symbolic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16685" y="2543026"/>
            <a:ext cx="1822415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abstractions: words, mathematics, institutions, and social codes.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11168" y="1539776"/>
            <a:ext cx="2370683" cy="2565648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49268" y="1539776"/>
            <a:ext cx="0" cy="2565648"/>
          </a:xfrm>
          <a:prstGeom prst="line">
            <a:avLst/>
          </a:prstGeom>
          <a:noFill/>
          <a:ln w="76200">
            <a:solidFill>
              <a:srgbClr val="2C1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1269" y="1857226"/>
            <a:ext cx="18224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/ Conscious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41269" y="2543026"/>
            <a:ext cx="1822415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lived experience of "now." Intention, will, and presence.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422874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third realm is truly "lived" — the others are supports or mediations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Phenomenology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85726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18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of the Lifeworld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5813" y="1869877"/>
            <a:ext cx="0" cy="295275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526" y="1869877"/>
            <a:ext cx="746484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"Everything is given in lived experience."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546152"/>
            <a:ext cx="7620000" cy="12878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Husserl's epoché &amp; reduction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"lifeworld" prior to abstraction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Consciousness first, then objects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2000" y="4151412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is an artifact built on top of the lifeworld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772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Emptiness / Dependent Origination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7462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śūnyatā (emptiness)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2479625"/>
            <a:ext cx="7620000" cy="12878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Nāgārjuna: no inherent existence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phenomena arise dependently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"objects" are relational constructs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2000" y="4148435"/>
            <a:ext cx="7620000" cy="774502"/>
          </a:xfrm>
          <a:prstGeom prst="roundRect">
            <a:avLst>
              <a:gd name="adj" fmla="val 13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5813" y="4148435"/>
            <a:ext cx="0" cy="774502"/>
          </a:xfrm>
          <a:prstGeom prst="line">
            <a:avLst/>
          </a:prstGeom>
          <a:noFill/>
          <a:ln w="47625">
            <a:solidFill>
              <a:srgbClr val="7C52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3526" y="4402336"/>
            <a:ext cx="7205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emptiness to the non-ontological status of symbolic artifacts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Deconstruction &amp; différance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85726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400" i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is deferred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2019151"/>
            <a:ext cx="7620000" cy="12878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Derrida: language never "present"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Signifiers reference other signifiers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trace of absence always present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2000" y="3687961"/>
            <a:ext cx="7620000" cy="774502"/>
          </a:xfrm>
          <a:prstGeom prst="roundRect">
            <a:avLst>
              <a:gd name="adj" fmla="val 13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5813" y="3687961"/>
            <a:ext cx="0" cy="774502"/>
          </a:xfrm>
          <a:prstGeom prst="line">
            <a:avLst/>
          </a:prstGeom>
          <a:noFill/>
          <a:ln w="47625">
            <a:solidFill>
              <a:srgbClr val="7C52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3526" y="3941862"/>
            <a:ext cx="7205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is inherently self-referential and unstable, not a stable ontology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QBism &amp; Agent-Centered Reality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85726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states = beliefs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990576"/>
            <a:ext cx="7620000" cy="12878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QBism reframes quantum mechanics as personal Bayesian updates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observer-independent wavefunction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is participatory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2000" y="3659386"/>
            <a:ext cx="7620000" cy="792212"/>
          </a:xfrm>
          <a:prstGeom prst="roundRect">
            <a:avLst>
              <a:gd name="adj" fmla="val 12825"/>
            </a:avLst>
          </a:prstGeom>
          <a:solidFill>
            <a:srgbClr val="2C1B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44779" y="3913287"/>
            <a:ext cx="725444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is also belief, not objective signal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1000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/ Agent Allegory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7620000" cy="797421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5813" y="1000125"/>
            <a:ext cx="0" cy="79742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8225" y="1294061"/>
            <a:ext cx="2737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23395" y="1279773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28046" y="1292126"/>
            <a:ext cx="410586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 General Agent Theory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1873746"/>
            <a:ext cx="7620000" cy="797421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5813" y="1873746"/>
            <a:ext cx="0" cy="79742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2167682"/>
            <a:ext cx="2737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23395" y="2153394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8046" y="2165747"/>
            <a:ext cx="410586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connections between agents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2000" y="2747367"/>
            <a:ext cx="7620000" cy="797421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85813" y="2747367"/>
            <a:ext cx="0" cy="79742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8225" y="3041303"/>
            <a:ext cx="2737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23395" y="3027015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28046" y="3039368"/>
            <a:ext cx="410586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structures of meaning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3620988"/>
            <a:ext cx="7620000" cy="797421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85813" y="3620988"/>
            <a:ext cx="0" cy="79742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8225" y="3914924"/>
            <a:ext cx="2737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23395" y="3900636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28046" y="3912989"/>
            <a:ext cx="410586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revision and self-reflection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48181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1300"/>
              </a:spcAft>
              <a:buNone/>
            </a:pPr>
            <a:r>
              <a:rPr lang="en-US" sz="13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as metaphor for networks of meaning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5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 = Perception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3501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02495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26866" y="1761827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572768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1762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36134" y="1761827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82035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2C1B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21029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2793504"/>
            <a:ext cx="7620000" cy="12116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= sensory / linguistic stimulation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activations = latent associations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constructed meaning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4322564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500"/>
              </a:spcAft>
              <a:buNone/>
            </a:pPr>
            <a:r>
              <a:rPr lang="en-US" sz="15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symbolic "objective world" is the result of a forward pass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5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Backpropagation = Reflection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3501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7C52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02495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Signal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26866" y="1761827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572768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1762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36134" y="1761827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82035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21029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2793504"/>
            <a:ext cx="7620000" cy="12116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error as mismatch in expectation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updates as internal reconfiguration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Consciousness as recursive correction mechanism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4322564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500"/>
              </a:spcAft>
              <a:buNone/>
            </a:pPr>
            <a:r>
              <a:rPr lang="en-US" sz="15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self-reflection corrects the "map" of language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7950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34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Emotional Belief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41673" y="1514475"/>
            <a:ext cx="1407468" cy="574477"/>
          </a:xfrm>
          <a:prstGeom prst="roundRect">
            <a:avLst>
              <a:gd name="adj" fmla="val 11053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86577" y="1692176"/>
            <a:ext cx="91765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76091" y="162550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7841" y="1514475"/>
            <a:ext cx="1280517" cy="574477"/>
          </a:xfrm>
          <a:prstGeom prst="roundRect">
            <a:avLst>
              <a:gd name="adj" fmla="val 11053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54015" y="1692176"/>
            <a:ext cx="7881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5309" y="162550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47059" y="1514475"/>
            <a:ext cx="1269802" cy="574477"/>
          </a:xfrm>
          <a:prstGeom prst="roundRect">
            <a:avLst>
              <a:gd name="adj" fmla="val 11053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93340" y="1692176"/>
            <a:ext cx="7772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3811" y="162550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75562" y="1514475"/>
            <a:ext cx="1026616" cy="574477"/>
          </a:xfrm>
          <a:prstGeom prst="roundRect">
            <a:avLst>
              <a:gd name="adj" fmla="val 11053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24274" y="1692176"/>
            <a:ext cx="5291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2000" y="2600176"/>
            <a:ext cx="7620000" cy="112216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08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trigger visceral reactions</a:t>
            </a:r>
            <a:endParaRPr lang="en-US" sz="1600" dirty="0"/>
          </a:p>
          <a:p>
            <a:pPr algn="l" marL="158750" indent="-158750">
              <a:lnSpc>
                <a:spcPts val="208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weighting reinforces belief in "objective truth"</a:t>
            </a:r>
            <a:endParaRPr lang="en-US" sz="1600" dirty="0"/>
          </a:p>
          <a:p>
            <a:pPr algn="l" marL="158750" indent="-158750">
              <a:lnSpc>
                <a:spcPts val="208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entangles subject and object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3976241"/>
            <a:ext cx="7620000" cy="663476"/>
          </a:xfrm>
          <a:prstGeom prst="roundRect">
            <a:avLst>
              <a:gd name="adj" fmla="val 15313"/>
            </a:avLst>
          </a:prstGeom>
          <a:solidFill>
            <a:srgbClr val="2C1B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93013" y="4179391"/>
            <a:ext cx="73579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feels real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Time-Being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47775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Intention, Will, Moment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3501" y="1860500"/>
            <a:ext cx="2064097" cy="977801"/>
          </a:xfrm>
          <a:prstGeom prst="roundRect">
            <a:avLst>
              <a:gd name="adj" fmla="val 10391"/>
            </a:avLst>
          </a:prstGeom>
          <a:solidFill>
            <a:srgbClr val="F5F7FA"/>
          </a:solidFill>
          <a:ln w="3810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76032" y="2216051"/>
            <a:ext cx="1639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29099" y="2144613"/>
            <a:ext cx="362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86150" y="1860500"/>
            <a:ext cx="2064097" cy="977801"/>
          </a:xfrm>
          <a:prstGeom prst="roundRect">
            <a:avLst>
              <a:gd name="adj" fmla="val 10391"/>
            </a:avLst>
          </a:prstGeom>
          <a:solidFill>
            <a:srgbClr val="F5F7FA"/>
          </a:solidFill>
          <a:ln w="38100">
            <a:solidFill>
              <a:srgbClr val="7C529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98681" y="2216051"/>
            <a:ext cx="1639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51748" y="2144613"/>
            <a:ext cx="362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108799" y="1860500"/>
            <a:ext cx="2171849" cy="977801"/>
          </a:xfrm>
          <a:prstGeom prst="roundRect">
            <a:avLst>
              <a:gd name="adj" fmla="val 10391"/>
            </a:avLst>
          </a:prstGeom>
          <a:solidFill>
            <a:srgbClr val="F5F7FA"/>
          </a:solidFill>
          <a:ln w="38100">
            <a:solidFill>
              <a:srgbClr val="2C1B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20253" y="2216051"/>
            <a:ext cx="17489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Extinguishment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3155752"/>
            <a:ext cx="7620000" cy="104596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moment is willed into being</a:t>
            </a:r>
            <a:endParaRPr lang="en-US" sz="1600" dirty="0"/>
          </a:p>
          <a:p>
            <a:pPr algn="l" marL="158750" indent="-15875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collapses back into emptiness</a:t>
            </a:r>
            <a:endParaRPr lang="en-US" sz="1600" dirty="0"/>
          </a:p>
          <a:p>
            <a:pPr algn="l" marL="158750" indent="-15875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moment re-asserts existence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392216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phenomenology of "now," not continuous flow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7067" y="649932"/>
            <a:ext cx="564986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5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Paradox of Existence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747067" y="1656308"/>
            <a:ext cx="56498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35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Existence arises out of non-existence,</a:t>
            </a:r>
            <a:endParaRPr lang="en-US" sz="2400" dirty="0"/>
          </a:p>
          <a:p>
            <a:pPr algn="ctr" indent="0" marL="0">
              <a:lnSpc>
                <a:spcPts val="3600"/>
              </a:lnSpc>
              <a:spcAft>
                <a:spcPts val="35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by moment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17688" y="3015109"/>
            <a:ext cx="4708475" cy="147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moment is born from emptiness</a:t>
            </a:r>
            <a:endParaRPr lang="en-US" sz="1700" dirty="0"/>
          </a:p>
          <a:p>
            <a:pPr algn="l" marL="342900" indent="-34290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emptiness is not a void—it is possibility</a:t>
            </a:r>
            <a:endParaRPr lang="en-US" sz="1700" dirty="0"/>
          </a:p>
          <a:p>
            <a:pPr algn="l" marL="342900" indent="-34290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paradox: being and non-being co-emerge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Back to Humanizer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539776"/>
            <a:ext cx="7620000" cy="12878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allegory engine as transformation between realms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interface that surfaces the subjective core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insight is integrated into the system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2000" y="3208586"/>
            <a:ext cx="7620000" cy="812453"/>
          </a:xfrm>
          <a:prstGeom prst="roundRect">
            <a:avLst>
              <a:gd name="adj" fmla="val 1250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3462486"/>
            <a:ext cx="7254442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Shift users from linguistic identification to self-awareness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8289" y="688479"/>
            <a:ext cx="4687273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60"/>
              </a:lnSpc>
              <a:spcAft>
                <a:spcPts val="3000"/>
              </a:spcAft>
              <a:buNone/>
            </a:pPr>
            <a:r>
              <a:rPr lang="en-US" sz="4200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your own</a:t>
            </a:r>
            <a:endParaRPr lang="en-US" sz="4200" dirty="0"/>
          </a:p>
          <a:p>
            <a:pPr algn="ctr" indent="0" marL="0">
              <a:lnSpc>
                <a:spcPts val="5460"/>
              </a:lnSpc>
              <a:spcAft>
                <a:spcPts val="3000"/>
              </a:spcAft>
              <a:buNone/>
            </a:pPr>
            <a:r>
              <a:rPr lang="en-US" sz="4200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agency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228289" y="2456259"/>
            <a:ext cx="46872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4000"/>
              </a:spcAft>
              <a:buNone/>
            </a:pPr>
            <a:r>
              <a:rPr lang="en-US" sz="20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theory to experiential shift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28289" y="3345210"/>
            <a:ext cx="4687273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on a single word. Feel its "weight."</a:t>
            </a:r>
            <a:endParaRPr lang="en-US" sz="1700" dirty="0"/>
          </a:p>
          <a:p>
            <a:pPr algn="ctr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dissolve it into silence.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063901" y="4417070"/>
            <a:ext cx="1015901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85726"/>
            <a:ext cx="7620000" cy="1453158"/>
          </a:xfrm>
          <a:prstGeom prst="roundRect">
            <a:avLst>
              <a:gd name="adj" fmla="val 699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5813" y="1285726"/>
            <a:ext cx="0" cy="1453158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8225" y="1514326"/>
            <a:ext cx="7257479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realms: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Corporeal, Objective, Subjective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proof: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Language feels real through visceral belief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Time-Being: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Discrete moments of intention and will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goal: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Awaken subjective agency within linguistic simulation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992785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415010"/>
            <a:ext cx="7620000" cy="94595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user experience testing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deeper formal models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narrative design refinement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as a Sense: The Allegory Engine</dc:title>
  <dc:subject>PptxGenJS Presentation</dc:subject>
  <dc:creator>Humanizer.com</dc:creator>
  <cp:lastModifiedBy>Humanizer.com</cp:lastModifiedBy>
  <cp:revision>1</cp:revision>
  <dcterms:created xsi:type="dcterms:W3CDTF">2025-10-04T18:59:40Z</dcterms:created>
  <dcterms:modified xsi:type="dcterms:W3CDTF">2025-10-04T18:59:40Z</dcterms:modified>
</cp:coreProperties>
</file>